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ANGL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Pre-Meeting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91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Brief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for Relationship Managers · M&amp;T Bank AI Hackathon 2026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127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Claude Sonnet + Plaid Sandbox · Java / Spring Boot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931920"/>
            <a:ext cx="5029200" cy="502920"/>
          </a:xfrm>
          <a:prstGeom prst="ROUNDED_RECTANGLE">
            <a:avLst>
              <a:gd name="adj" fmla="val 9091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399592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Deliver High-Value Use Cases · Agent-Based AI · Operationalize GenAI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Meeting Prep is Manual, Slow, and Error-Prone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914400"/>
          </a:xfrm>
          <a:prstGeom prst="ROUNDED_RECTANGLE">
            <a:avLst>
              <a:gd name="adj" fmla="val 8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8686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"Before every client meeting, I spend 10–15 minutes opening core-banking screens, checking CRM notes, scanning recent transactions, and hoping I remember what I promised last time."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874520"/>
            <a:ext cx="1920240" cy="1005840"/>
          </a:xfrm>
          <a:prstGeom prst="ROUNDED_RECTANGLE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9202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4688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prep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meeting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23160" y="1874520"/>
            <a:ext cx="1920240" cy="1005840"/>
          </a:xfrm>
          <a:prstGeom prst="ROUNDED_RECTANGLE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14600" y="19202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×/day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2514600" y="24688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client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80560" y="1874520"/>
            <a:ext cx="1920240" cy="1005840"/>
          </a:xfrm>
          <a:prstGeom prst="ROUNDED_RECTANGLE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0" y="19202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 days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4688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days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37960" y="1874520"/>
            <a:ext cx="1920240" cy="1005840"/>
          </a:xfrm>
          <a:prstGeom prst="ROUNDED_RECTANGLE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29400" y="19202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 hrs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6629400" y="24688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per RM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65760" y="3017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breaks down: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" y="3337560"/>
            <a:ext cx="402336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scattered across core-banking, CRM, and investment platforms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promises from last meeting buried in unstructured notes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flag when a CD is about to mature or a large outflow just hit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prep — nothing tailored to what actually changed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754880" y="320040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RM walks in underprepared.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notices.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 One Click → One-Page Brief, Ready in Seconds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229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RM gets: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Snapshot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356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segment, tenure, total relationship value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013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Changed Since Last Meeting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04825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moved — balances, inflows, outflows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4140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Watch-Outs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6609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Severity-rated alerts: overdraft risk, maxed credit, dormancy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02666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Opportunities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2735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Maturing CDs, underutilised savings, cross-sell signals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6393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Talking Points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8862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scripted, data-grounded conversation starters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2519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Last Interaction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4988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notes + open promises pulled from CRM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80560" y="777240"/>
            <a:ext cx="4297680" cy="4023360"/>
          </a:xfrm>
          <a:prstGeom prst="ROUNDED_RECTANGLE">
            <a:avLst>
              <a:gd name="adj" fmla="val 1818"/>
            </a:avLst>
          </a:prstGeom>
          <a:solidFill>
            <a:srgbClr val="1E2761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63440" y="9144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That Makes It Bank-Grade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137160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true" is deterministic Java.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to say it" is the LLM.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never trusted with arithmetic, dates, or comparisons.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25146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invented numbers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663440" y="295351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Every claim has an auditable citation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663440" y="339242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One right-sized model call per brief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663440" y="388620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~4¢ LLM cost per brief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~$12.50 RM time saved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 4-Phase Agentic Pipeline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777240"/>
            <a:ext cx="1965960" cy="3749040"/>
          </a:xfrm>
          <a:prstGeom prst="ROUNDED_RECTANGLE">
            <a:avLst>
              <a:gd name="adj" fmla="val 4651"/>
            </a:avLst>
          </a:prstGeom>
          <a:solidFill>
            <a:srgbClr val="0D1B4B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" y="676656"/>
            <a:ext cx="594360" cy="502920"/>
          </a:xfrm>
          <a:prstGeom prst="ROUNDED_RECTANGLE">
            <a:avLst>
              <a:gd name="adj" fmla="val 21818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676656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9144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🔧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141732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1874520"/>
            <a:ext cx="17830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read-only tools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2258568"/>
            <a:ext cx="17830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→ Postgres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65760" y="2642616"/>
            <a:ext cx="17830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 Sandbox API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65760" y="3026664"/>
            <a:ext cx="17830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(eager or LLM-driven)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267712" y="2487168"/>
            <a:ext cx="155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450592" y="777240"/>
            <a:ext cx="1965960" cy="3749040"/>
          </a:xfrm>
          <a:prstGeom prst="ROUNDED_RECTANGLE">
            <a:avLst>
              <a:gd name="adj" fmla="val 4651"/>
            </a:avLst>
          </a:prstGeom>
          <a:solidFill>
            <a:srgbClr val="0D1B4B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36392" y="676656"/>
            <a:ext cx="594360" cy="502920"/>
          </a:xfrm>
          <a:prstGeom prst="ROUNDED_RECTANGLE">
            <a:avLst>
              <a:gd name="adj" fmla="val 21818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136392" y="676656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2542032" y="9144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2542032" y="141732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542032" y="1874520"/>
            <a:ext cx="17830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Java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542032" y="2258568"/>
            <a:ext cx="17830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LLM tokens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2542032" y="2642616"/>
            <a:ext cx="17830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Accounts, outflows,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2542032" y="3026664"/>
            <a:ext cx="17830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maturity, dormancy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443984" y="2487168"/>
            <a:ext cx="155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626864" y="777240"/>
            <a:ext cx="1965960" cy="3749040"/>
          </a:xfrm>
          <a:prstGeom prst="ROUNDED_RECTANGLE">
            <a:avLst>
              <a:gd name="adj" fmla="val 4651"/>
            </a:avLst>
          </a:prstGeom>
          <a:solidFill>
            <a:srgbClr val="0D1B4B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12664" y="676656"/>
            <a:ext cx="594360" cy="502920"/>
          </a:xfrm>
          <a:prstGeom prst="ROUNDED_RECTANGLE">
            <a:avLst>
              <a:gd name="adj" fmla="val 21818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312664" y="676656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4718304" y="9144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4718304" y="141732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718304" y="1874520"/>
            <a:ext cx="17830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Claude Sonnet call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718304" y="2258568"/>
            <a:ext cx="17830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 from ChangeReport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4718304" y="2642616"/>
            <a:ext cx="17830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validator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718304" y="3026664"/>
            <a:ext cx="17830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strips hallucinations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620256" y="2487168"/>
            <a:ext cx="155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803136" y="777240"/>
            <a:ext cx="1965960" cy="3749040"/>
          </a:xfrm>
          <a:prstGeom prst="ROUNDED_RECTANGLE">
            <a:avLst>
              <a:gd name="adj" fmla="val 4651"/>
            </a:avLst>
          </a:prstGeom>
          <a:solidFill>
            <a:srgbClr val="0D1B4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88936" y="676656"/>
            <a:ext cx="594360" cy="502920"/>
          </a:xfrm>
          <a:prstGeom prst="ROUNDED_RECTANGLE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488936" y="676656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6894576" y="9144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📡</a:t>
            </a:r>
            <a:endParaRPr lang="en-US" sz="2600" dirty="0"/>
          </a:p>
        </p:txBody>
      </p:sp>
      <p:sp>
        <p:nvSpPr>
          <p:cNvPr id="37" name="Text 35"/>
          <p:cNvSpPr txBox="1"/>
          <p:nvPr/>
        </p:nvSpPr>
        <p:spPr>
          <a:xfrm>
            <a:off x="6894576" y="141732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6894576" y="1874520"/>
            <a:ext cx="17830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events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6894576" y="2258568"/>
            <a:ext cx="17830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agent feed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6894576" y="2642616"/>
            <a:ext cx="17830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JSON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6894576" y="3026664"/>
            <a:ext cx="17830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Clickable citations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HTTP request (SSE stream) · GET /briefs/{clientId}/stream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Differentiator: Deterministic Delta + Constrained Synthesis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77240"/>
            <a:ext cx="4160520" cy="4069080"/>
          </a:xfrm>
          <a:prstGeom prst="ROUNDED_RECTANGLE">
            <a:avLst>
              <a:gd name="adj" fmla="val 1798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868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Typical LLM Approach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25880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LLM reads raw data and computes deltas itself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28800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may hallucinate balances or dates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331720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way to audit where a number came from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834640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 bad inference poisons the brief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337560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Cost scales with reasoning complexity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777240"/>
            <a:ext cx="4160520" cy="4069080"/>
          </a:xfrm>
          <a:prstGeom prst="ROUNDED_RECTANGLE">
            <a:avLst>
              <a:gd name="adj" fmla="val 1798"/>
            </a:avLst>
          </a:prstGeom>
          <a:solidFill>
            <a:srgbClr val="F0FDF4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868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Our Approach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132588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Java computes all deltas — zero LLM tokens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182880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ChangeReport is the single source of truth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233172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Claude writes prose ONLY from that report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283464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Citation validator strips any unresolvable ID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333756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 Sonnet call = predictable cost (~4¢)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06240" y="2487168"/>
            <a:ext cx="457200" cy="411480"/>
          </a:xfrm>
          <a:prstGeom prst="ROUNDED_RECTANGLE">
            <a:avLst>
              <a:gd name="adj" fmla="val 1777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206240" y="24871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20040" y="472744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architecture that prevents hallucinations also minimises token cost.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Robert Harrington · Mass Affluent Hero Client</a:t>
            </a:r>
            <a:endParaRPr lang="en-US" sz="2000" dirty="0"/>
          </a:p>
        </p:txBody>
      </p:sp>
      <p:pic>
        <p:nvPicPr>
          <p:cNvPr id="3" name="Image 0" descr="/Users/sand/Sankar/Garrage/M_T/hackaton/gen-ai/rm-brief/docs/screenshots/brief-exam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640080"/>
            <a:ext cx="8595360" cy="4114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http://localhost:8080  ·  GET /briefs/client_002/stream  ·  SSE live feed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Citations: Every Claim Is Auditable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94360" y="804672"/>
            <a:ext cx="1097280" cy="9144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804672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82880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 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data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737360" y="1216152"/>
            <a:ext cx="228600" cy="73152"/>
          </a:xfrm>
          <a:prstGeom prst="RECTANGL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31720" y="804672"/>
            <a:ext cx="1097280" cy="9144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331720" y="804672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2057400" y="182880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builds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ChangeReport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1216152"/>
            <a:ext cx="228600" cy="73152"/>
          </a:xfrm>
          <a:prstGeom prst="RECTANGL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69080" y="804672"/>
            <a:ext cx="1097280" cy="91440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69080" y="804672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794760" y="182880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writes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 + cites IDs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212080" y="1216152"/>
            <a:ext cx="228600" cy="73152"/>
          </a:xfrm>
          <a:prstGeom prst="RECTANGL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06440" y="804672"/>
            <a:ext cx="1097280" cy="9144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806440" y="804672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5532120" y="182880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checks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citation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49440" y="1216152"/>
            <a:ext cx="228600" cy="73152"/>
          </a:xfrm>
          <a:prstGeom prst="RECTANGL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43800" y="804672"/>
            <a:ext cx="1097280" cy="914400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43800" y="804672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7269480" y="182880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delivered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real IDs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2606040"/>
            <a:ext cx="4023360" cy="2194560"/>
          </a:xfrm>
          <a:prstGeom prst="ROUNDED_RECTANGLE">
            <a:avLst>
              <a:gd name="adj" fmla="val 3333"/>
            </a:avLst>
          </a:prstGeom>
          <a:solidFill>
            <a:srgbClr val="F0FDF4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02920" y="27157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Citation resolves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" y="3127248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 is clickable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shows account name, balance, account 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RM can verify the source instantly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397764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"Plaid Money Market · depository · $43,200"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00600" y="2606040"/>
            <a:ext cx="4023360" cy="2194560"/>
          </a:xfrm>
          <a:prstGeom prst="ROUNDED_RECTANGLE">
            <a:avLst>
              <a:gd name="adj" fmla="val 3333"/>
            </a:avLst>
          </a:prstGeom>
          <a:solidFill>
            <a:srgbClr val="FFF7ED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983480" y="27157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Citation doesn't resolve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983480" y="3127248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 is rendered red and stripped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hallucinated ID visible to reviewer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never silently reaches the RM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983480" y="397764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by SynthesisService.validateCitations()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brief is returned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Case: 300× ROI on Every Brief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49808"/>
            <a:ext cx="1965960" cy="1280160"/>
          </a:xfrm>
          <a:prstGeom prst="ROUNDED_RECTANGLE">
            <a:avLst>
              <a:gd name="adj" fmla="val 7143"/>
            </a:avLst>
          </a:prstGeom>
          <a:solidFill>
            <a:srgbClr val="0D1B4B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" y="822960"/>
            <a:ext cx="1783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~4¢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14630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brief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468880" y="749808"/>
            <a:ext cx="1965960" cy="1280160"/>
          </a:xfrm>
          <a:prstGeom prst="ROUNDED_RECTANGLE">
            <a:avLst>
              <a:gd name="adj" fmla="val 7143"/>
            </a:avLst>
          </a:prstGeom>
          <a:solidFill>
            <a:srgbClr val="0D1B4B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60320" y="822960"/>
            <a:ext cx="1783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$12.50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14630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time value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reclaimed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17720" y="749808"/>
            <a:ext cx="1965960" cy="1280160"/>
          </a:xfrm>
          <a:prstGeom prst="ROUNDED_RECTANGLE">
            <a:avLst>
              <a:gd name="adj" fmla="val 7143"/>
            </a:avLst>
          </a:prstGeom>
          <a:solidFill>
            <a:srgbClr val="0D1B4B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09160" y="822960"/>
            <a:ext cx="1783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300×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14630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brief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66560" y="749808"/>
            <a:ext cx="1965960" cy="1280160"/>
          </a:xfrm>
          <a:prstGeom prst="ROUNDED_RECTANGLE">
            <a:avLst>
              <a:gd name="adj" fmla="val 7143"/>
            </a:avLst>
          </a:prstGeom>
          <a:solidFill>
            <a:srgbClr val="0D1B4B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0" y="822960"/>
            <a:ext cx="1783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$820K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14630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50-RM pilot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value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148840"/>
            <a:ext cx="4114800" cy="2651760"/>
          </a:xfrm>
          <a:prstGeom prst="ROUNDED_RECTANGLE">
            <a:avLst>
              <a:gd name="adj" fmla="val 2759"/>
            </a:avLst>
          </a:prstGeom>
          <a:solidFill>
            <a:srgbClr val="0D1B4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" y="2240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263347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 min manual prep per meeting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30632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$75 / hr RM fully-loaded cost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349300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 meetings × 220 days = 1,320 briefs / RM / yr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392277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50-RM pilot scope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2148840"/>
            <a:ext cx="4114800" cy="2651760"/>
          </a:xfrm>
          <a:prstGeom prst="ROUNDED_RECTANGLE">
            <a:avLst>
              <a:gd name="adj" fmla="val 2759"/>
            </a:avLst>
          </a:prstGeom>
          <a:solidFill>
            <a:srgbClr val="0D1B4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92040" y="2240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Per-Brief Cost Breakdown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892040" y="263347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(6 tools)     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360920" y="263347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— $0.00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892040" y="30632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computation    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360920" y="30632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— $0.00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892040" y="349300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input ~5k tokens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360920" y="349300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$0.015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892040" y="392277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output ~1.5k tokens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360920" y="3922776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$0.023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892040" y="4352544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               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360920" y="4352544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~$0.04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320040" y="475488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Break-even: &lt; 1 month at pilot scale  ·  ~$53/RM/yr model cost vs $16,500/RM/yr time value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Agentic Design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77240"/>
            <a:ext cx="4114800" cy="566928"/>
          </a:xfrm>
          <a:prstGeom prst="ROUNDED_RECTANGLE">
            <a:avLst>
              <a:gd name="adj" fmla="val 9677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82296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 API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737360" y="86868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 · Spring Boot 4.0 · Maven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435608"/>
            <a:ext cx="4114800" cy="566928"/>
          </a:xfrm>
          <a:prstGeom prst="ROUNDED_RECTANGLE">
            <a:avLst>
              <a:gd name="adj" fmla="val 9677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481328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LLM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152704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4.6 · anthropic-java 2.41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093976"/>
            <a:ext cx="4114800" cy="566928"/>
          </a:xfrm>
          <a:prstGeom prst="ROUNDED_RECTANGLE">
            <a:avLst>
              <a:gd name="adj" fmla="val 9677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139696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 Financial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737360" y="2185416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 Sandbox · plaid-java 35.0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752344"/>
            <a:ext cx="4114800" cy="566928"/>
          </a:xfrm>
          <a:prstGeom prst="ROUNDED_RECTANGLE">
            <a:avLst>
              <a:gd name="adj" fmla="val 9677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798064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Data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737360" y="284378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· Flyway migrations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410712"/>
            <a:ext cx="4114800" cy="566928"/>
          </a:xfrm>
          <a:prstGeom prst="ROUNDED_RECTANGLE">
            <a:avLst>
              <a:gd name="adj" fmla="val 9677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456432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Streaming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737360" y="350215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(Server-Sent Events) · virtual threads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4069080"/>
            <a:ext cx="4114800" cy="566928"/>
          </a:xfrm>
          <a:prstGeom prst="ROUNDED_RECTANGLE">
            <a:avLst>
              <a:gd name="adj" fmla="val 9677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411480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UI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737360" y="41605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static HTML/JS file — no build step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749808"/>
            <a:ext cx="4160520" cy="4114800"/>
          </a:xfrm>
          <a:prstGeom prst="ROUNDED_RECTANGLE">
            <a:avLst>
              <a:gd name="adj" fmla="val 1778"/>
            </a:avLst>
          </a:prstGeom>
          <a:solidFill>
            <a:srgbClr val="1E2761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46320" y="859536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Agentic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1335024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Tool-calling loop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846320" y="1627632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plans &amp; sequences 6 tool calls in LLM-driven mode (eager-tool-calls=false)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846320" y="2093976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Observable pipeline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846320" y="2386584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phase emits SSE events — live agent feed in the UI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846320" y="2852928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output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846320" y="3145536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Claude's output is checked against ground-truth IDs before use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846320" y="361188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modes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846320" y="3904488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(default) or full LLM orchestration — one flag in application.yml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ANGL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Production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777240"/>
          </a:xfrm>
          <a:prstGeom prst="ROUNDED_RECTANGLE">
            <a:avLst>
              <a:gd name="adj" fmla="val 8235"/>
            </a:avLst>
          </a:prstGeom>
          <a:solidFill>
            <a:srgbClr val="0D1B4B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850392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1–3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83210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FDX / Production Plaid integration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17957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Sandbox with real bank data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943600" y="850392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~$50K one-time</a:t>
            </a:r>
            <a:endParaRPr lang="en-US" sz="11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wks · 2 engineers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664208"/>
            <a:ext cx="8412480" cy="777240"/>
          </a:xfrm>
          <a:prstGeom prst="ROUNDED_RECTANGLE">
            <a:avLst>
              <a:gd name="adj" fmla="val 8235"/>
            </a:avLst>
          </a:prstGeom>
          <a:solidFill>
            <a:srgbClr val="0D1B4B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173736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4–5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17190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AuthN / AuthZ / audit logging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206654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login, role scoping, full audit trail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17373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~$50K one-time</a:t>
            </a:r>
            <a:endParaRPr lang="en-US" sz="100" dirty="0"/>
          </a:p>
          <a:p>
            <a:pPr algn="r" indent="0" marL="0">
              <a:buNone/>
            </a:pPr>
            <a:r>
              <a:rPr lang="en-US" sz="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wks · 2 engineers</a:t>
            </a:r>
            <a:endParaRPr lang="en-US" sz="100" dirty="0"/>
          </a:p>
        </p:txBody>
      </p:sp>
      <p:sp>
        <p:nvSpPr>
          <p:cNvPr id="14" name="Shape 12"/>
          <p:cNvSpPr/>
          <p:nvPr/>
        </p:nvSpPr>
        <p:spPr>
          <a:xfrm>
            <a:off x="365760" y="2551176"/>
            <a:ext cx="8412480" cy="777240"/>
          </a:xfrm>
          <a:prstGeom prst="ROUNDED_RECTANGLE">
            <a:avLst>
              <a:gd name="adj" fmla="val 8235"/>
            </a:avLst>
          </a:prstGeom>
          <a:solidFill>
            <a:srgbClr val="0D1B4B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" y="2624328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6–7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26060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Productionise SSE + UI + observability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295351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error handling, pilot UX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0" y="262432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~$50K one-time</a:t>
            </a:r>
            <a:endParaRPr lang="en-US" sz="100" dirty="0"/>
          </a:p>
          <a:p>
            <a:pPr algn="r" indent="0" marL="0">
              <a:buNone/>
            </a:pPr>
            <a:r>
              <a:rPr lang="en-US" sz="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wks · 2 engineers</a:t>
            </a:r>
            <a:endParaRPr lang="en-US" sz="100" dirty="0"/>
          </a:p>
        </p:txBody>
      </p:sp>
      <p:sp>
        <p:nvSpPr>
          <p:cNvPr id="19" name="Shape 17"/>
          <p:cNvSpPr/>
          <p:nvPr/>
        </p:nvSpPr>
        <p:spPr>
          <a:xfrm>
            <a:off x="365760" y="3438144"/>
            <a:ext cx="8412480" cy="777240"/>
          </a:xfrm>
          <a:prstGeom prst="ROUNDED_RECTANGLE">
            <a:avLst>
              <a:gd name="adj" fmla="val 8235"/>
            </a:avLst>
          </a:prstGeom>
          <a:solidFill>
            <a:srgbClr val="0D1B4B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" y="3511296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8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600200" y="349300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UAT with 50 RMs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38404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loop, threshold tuning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0" y="3511296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~$50K one-time</a:t>
            </a:r>
            <a:endParaRPr lang="en-US" sz="100" dirty="0"/>
          </a:p>
          <a:p>
            <a:pPr algn="r" indent="0" marL="0">
              <a:buNone/>
            </a:pPr>
            <a:r>
              <a:rPr lang="en-US" sz="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wks · 2 engineers</a:t>
            </a:r>
            <a:endParaRPr lang="en-US" sz="100" dirty="0"/>
          </a:p>
        </p:txBody>
      </p:sp>
      <p:sp>
        <p:nvSpPr>
          <p:cNvPr id="24" name="Text 22"/>
          <p:cNvSpPr txBox="1"/>
          <p:nvPr/>
        </p:nvSpPr>
        <p:spPr>
          <a:xfrm>
            <a:off x="365760" y="45262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POC is end-to-end working today.  Plaid Sandbox → FDX is the primary integration swap.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ANGL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6400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design decision.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wins.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2148840"/>
            <a:ext cx="3931920" cy="1828800"/>
          </a:xfrm>
          <a:prstGeom prst="ROUNDED_RECTANGLE">
            <a:avLst>
              <a:gd name="adj" fmla="val 5000"/>
            </a:avLst>
          </a:prstGeom>
          <a:solidFill>
            <a:srgbClr val="0D1B4B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26771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 Bank-grade trust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15768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deltas + citation validation = no hallucinations in the brief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2148840"/>
            <a:ext cx="3931920" cy="1828800"/>
          </a:xfrm>
          <a:prstGeom prst="ROUNDED_RECTANGLE">
            <a:avLst>
              <a:gd name="adj" fmla="val 5000"/>
            </a:avLst>
          </a:prstGeom>
          <a:solidFill>
            <a:srgbClr val="0D1B4B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226771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Minimal token cost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2715768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right-sized Claude call per brief — 4¢ in, $12.50 in RM time out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synthetic · Plaid Sandbox only · No customer PII · AI-assistance disclosed in docs/model-usage.md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2026-09-24T17:42:02Z</dcterms:created>
  <dcterms:modified xsi:type="dcterms:W3CDTF">2026-09-24T17:42:02Z</dcterms:modified>
</cp:coreProperties>
</file>